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618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A511C1-4273-4D33-B027-071E6D1C88CE}" v="1" dt="2026-02-17T13:44:03.3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55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2004"/>
            <a:ext cx="12161838" cy="7059168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n w="22225">
                  <a:solidFill>
                    <a:srgbClr val="C00000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w</a:t>
            </a:r>
            <a:endParaRPr b="1" dirty="0">
              <a:ln w="22225">
                <a:solidFill>
                  <a:srgbClr val="C00000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5257800" y="109728"/>
            <a:ext cx="1645920" cy="402336"/>
          </a:xfrm>
          <a:prstGeom prst="ellipse">
            <a:avLst/>
          </a:prstGeom>
          <a:solidFill>
            <a:srgbClr val="1A6B30"/>
          </a:solidFill>
          <a:ln w="22860">
            <a:solidFill>
              <a:srgbClr val="134D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080760" y="512064"/>
            <a:ext cx="0" cy="201168"/>
          </a:xfrm>
          <a:prstGeom prst="line">
            <a:avLst/>
          </a:prstGeom>
          <a:ln w="2286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429000" y="713232"/>
            <a:ext cx="5303520" cy="100584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29000" y="713232"/>
            <a:ext cx="100584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93592" y="795528"/>
            <a:ext cx="50474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E3A5F"/>
                </a:solidFill>
              </a:rPr>
              <a:t>Define Design Specifications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1042416"/>
            <a:ext cx="501091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Char char="•"/>
            </a:pPr>
            <a:r>
              <a:rPr sz="750">
                <a:solidFill>
                  <a:srgbClr val="1E3A5F"/>
                </a:solidFill>
              </a:rPr>
              <a:t>Select device type: Double Gate MOSFET</a:t>
            </a:r>
          </a:p>
          <a:p>
            <a:pPr marL="342900" indent="-342900" algn="l">
              <a:buChar char="•"/>
            </a:pPr>
            <a:r>
              <a:rPr sz="750">
                <a:solidFill>
                  <a:srgbClr val="1E3A5F"/>
                </a:solidFill>
              </a:rPr>
              <a:t>Choose technology node (e.g. 20 nm / 32 nm)</a:t>
            </a:r>
          </a:p>
          <a:p>
            <a:pPr marL="342900" indent="-342900" algn="l">
              <a:buChar char="•"/>
            </a:pPr>
            <a:r>
              <a:rPr sz="750">
                <a:solidFill>
                  <a:srgbClr val="1E3A5F"/>
                </a:solidFill>
              </a:rPr>
              <a:t>Define channel and gate dimensions</a:t>
            </a:r>
          </a:p>
          <a:p>
            <a:pPr marL="342900" indent="-342900" algn="l">
              <a:buChar char="•"/>
            </a:pPr>
            <a:r>
              <a:rPr sz="750">
                <a:solidFill>
                  <a:srgbClr val="1E3A5F"/>
                </a:solidFill>
              </a:rPr>
              <a:t>Set oxide thickness range / dielectric materials (e.g. SiO2, HfO2)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1719072"/>
            <a:ext cx="0" cy="201168"/>
          </a:xfrm>
          <a:prstGeom prst="line">
            <a:avLst/>
          </a:prstGeom>
          <a:ln w="2286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429000" y="1920240"/>
            <a:ext cx="5303520" cy="987552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920240"/>
            <a:ext cx="100584" cy="9875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2" y="2002536"/>
            <a:ext cx="50474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4E3B"/>
                </a:solidFill>
              </a:rPr>
              <a:t>Develop Device Geometry using SDE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249424"/>
            <a:ext cx="504748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07080"/>
                </a:solidFill>
              </a:rPr>
              <a:t>(Structure Design Editor)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432304"/>
            <a:ext cx="501091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Char char="•"/>
            </a:pPr>
            <a:r>
              <a:rPr sz="750">
                <a:solidFill>
                  <a:srgbClr val="064E3B"/>
                </a:solidFill>
              </a:rPr>
              <a:t>Create 2D/3D Double Gate MOSFET structure</a:t>
            </a:r>
          </a:p>
          <a:p>
            <a:pPr marL="342900" indent="-342900" algn="l">
              <a:buChar char="•"/>
            </a:pPr>
            <a:r>
              <a:rPr sz="750">
                <a:solidFill>
                  <a:srgbClr val="064E3B"/>
                </a:solidFill>
              </a:rPr>
              <a:t>Define source, drain, channel, gates, dielectrics</a:t>
            </a:r>
          </a:p>
          <a:p>
            <a:pPr marL="342900" indent="-342900" algn="l">
              <a:buChar char="•"/>
            </a:pPr>
            <a:r>
              <a:rPr sz="750">
                <a:solidFill>
                  <a:srgbClr val="064E3B"/>
                </a:solidFill>
              </a:rPr>
              <a:t>Generate proper meshing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907792"/>
            <a:ext cx="0" cy="201168"/>
          </a:xfrm>
          <a:prstGeom prst="line">
            <a:avLst/>
          </a:prstGeom>
          <a:ln w="2286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429000" y="3108960"/>
            <a:ext cx="5303520" cy="777240"/>
          </a:xfrm>
          <a:prstGeom prst="rect">
            <a:avLst/>
          </a:prstGeom>
          <a:solidFill>
            <a:srgbClr val="FEF9C3"/>
          </a:solidFill>
          <a:ln w="2540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29000" y="3108960"/>
            <a:ext cx="100584" cy="77724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93592" y="3191256"/>
            <a:ext cx="50474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713F12"/>
                </a:solidFill>
              </a:rPr>
              <a:t>Apply Required / Suitable Physics Models  (SDevice Tool)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438144"/>
            <a:ext cx="5010912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Char char="•"/>
            </a:pPr>
            <a:r>
              <a:rPr sz="750">
                <a:solidFill>
                  <a:srgbClr val="713F12"/>
                </a:solidFill>
              </a:rPr>
              <a:t>Select drift-diffusion, mobility, recombination models</a:t>
            </a:r>
          </a:p>
          <a:p>
            <a:pPr marL="342900" indent="-342900" algn="l">
              <a:buChar char="•"/>
            </a:pPr>
            <a:r>
              <a:rPr sz="750">
                <a:solidFill>
                  <a:srgbClr val="713F12"/>
                </a:solidFill>
              </a:rPr>
              <a:t>Define material / electrical properties, boundary conditions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3886200"/>
            <a:ext cx="0" cy="201168"/>
          </a:xfrm>
          <a:prstGeom prst="line">
            <a:avLst/>
          </a:prstGeom>
          <a:ln w="2286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429000" y="4087368"/>
            <a:ext cx="5303520" cy="804672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429000" y="4087368"/>
            <a:ext cx="100584" cy="8046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93592" y="4169663"/>
            <a:ext cx="50474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B0764"/>
                </a:solidFill>
              </a:rPr>
              <a:t>Run Simulation &amp; Analyze Device Characteristics  (SVisual Tool)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416552"/>
            <a:ext cx="5010912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Char char="•"/>
            </a:pPr>
            <a:r>
              <a:rPr sz="750">
                <a:solidFill>
                  <a:srgbClr val="3B0764"/>
                </a:solidFill>
              </a:rPr>
              <a:t>Id vs Vg,  Id vs Vd plots</a:t>
            </a:r>
          </a:p>
          <a:p>
            <a:pPr marL="342900" indent="-342900" algn="l">
              <a:buChar char="•"/>
            </a:pPr>
            <a:r>
              <a:rPr sz="750">
                <a:solidFill>
                  <a:srgbClr val="3B0764"/>
                </a:solidFill>
              </a:rPr>
              <a:t>Threshold voltage, ON/OFF current, leakage current</a:t>
            </a:r>
          </a:p>
          <a:p>
            <a:pPr marL="342900" indent="-342900" algn="l">
              <a:buChar char="•"/>
            </a:pPr>
            <a:r>
              <a:rPr sz="750">
                <a:solidFill>
                  <a:srgbClr val="3B0764"/>
                </a:solidFill>
              </a:rPr>
              <a:t>Compare graphs for various dielectric cases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4892040"/>
            <a:ext cx="0" cy="201167"/>
          </a:xfrm>
          <a:prstGeom prst="line">
            <a:avLst/>
          </a:prstGeom>
          <a:ln w="2286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Diamond 25"/>
          <p:cNvSpPr/>
          <p:nvPr/>
        </p:nvSpPr>
        <p:spPr>
          <a:xfrm>
            <a:off x="3154680" y="5093207"/>
            <a:ext cx="5852160" cy="1261872"/>
          </a:xfrm>
          <a:prstGeom prst="diamond">
            <a:avLst/>
          </a:prstGeom>
          <a:solidFill>
            <a:srgbClr val="FFF7ED"/>
          </a:solidFill>
          <a:ln w="279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66311" y="5278373"/>
            <a:ext cx="27203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 dirty="0">
                <a:solidFill>
                  <a:srgbClr val="7C2D12"/>
                </a:solidFill>
              </a:rPr>
              <a:t>Check If Design Meets Performance Targets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80760" y="5440679"/>
            <a:ext cx="0" cy="566928"/>
          </a:xfrm>
          <a:prstGeom prst="line">
            <a:avLst/>
          </a:prstGeom>
          <a:ln w="10160">
            <a:solidFill>
              <a:srgbClr val="EA580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849624" y="5724144"/>
            <a:ext cx="4462272" cy="0"/>
          </a:xfrm>
          <a:prstGeom prst="line">
            <a:avLst/>
          </a:prstGeom>
          <a:ln w="10160">
            <a:solidFill>
              <a:srgbClr val="EA580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726181" y="5465063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7C2D12"/>
                </a:solidFill>
              </a:rPr>
              <a:t>① Is Ion high enough?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82412" y="5493715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7C2D12"/>
                </a:solidFill>
              </a:rPr>
              <a:t>② Is </a:t>
            </a:r>
            <a:r>
              <a:rPr sz="850" b="0" i="0" dirty="0" err="1">
                <a:solidFill>
                  <a:srgbClr val="7C2D12"/>
                </a:solidFill>
              </a:rPr>
              <a:t>Ioff</a:t>
            </a:r>
            <a:r>
              <a:rPr sz="850" b="0" i="0" dirty="0">
                <a:solidFill>
                  <a:srgbClr val="7C2D12"/>
                </a:solidFill>
              </a:rPr>
              <a:t> low enough?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95928" y="5757671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7C2D12"/>
                </a:solidFill>
              </a:rPr>
              <a:t>③ Is VIN within acceptable range?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5594" y="5768339"/>
            <a:ext cx="2414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7C2D12"/>
                </a:solidFill>
              </a:rPr>
              <a:t>④ Is short-channel effect minimized?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08427" y="5495543"/>
            <a:ext cx="512064" cy="201168"/>
          </a:xfrm>
          <a:prstGeom prst="roundRect">
            <a:avLst>
              <a:gd name="adj" fmla="val 4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i="0" dirty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20072" y="5138928"/>
            <a:ext cx="2240280" cy="1170432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720072" y="5138928"/>
            <a:ext cx="100584" cy="11704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070847" y="5485890"/>
            <a:ext cx="530352" cy="201168"/>
          </a:xfrm>
          <a:prstGeom prst="roundRect">
            <a:avLst>
              <a:gd name="adj" fmla="val 4000"/>
            </a:avLst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YES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59339" y="5214365"/>
            <a:ext cx="19842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14532D"/>
                </a:solidFill>
              </a:rPr>
              <a:t>Conclude the 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84663" y="5504688"/>
            <a:ext cx="198424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Char char="•"/>
            </a:pPr>
            <a:r>
              <a:rPr sz="750">
                <a:solidFill>
                  <a:srgbClr val="14532D"/>
                </a:solidFill>
              </a:rPr>
              <a:t>Identify best dielectric material</a:t>
            </a:r>
          </a:p>
          <a:p>
            <a:pPr marL="342900" indent="-342900" algn="l">
              <a:buChar char="•"/>
            </a:pPr>
            <a:r>
              <a:rPr sz="750">
                <a:solidFill>
                  <a:srgbClr val="14532D"/>
                </a:solidFill>
              </a:rPr>
              <a:t>Identify optimum thickness</a:t>
            </a:r>
          </a:p>
          <a:p>
            <a:pPr marL="342900" indent="-342900" algn="l">
              <a:buChar char="•"/>
            </a:pPr>
            <a:r>
              <a:rPr sz="750">
                <a:solidFill>
                  <a:srgbClr val="14532D"/>
                </a:solidFill>
              </a:rPr>
              <a:t>Summarize improvements achieved</a:t>
            </a:r>
          </a:p>
          <a:p>
            <a:pPr marL="342900" indent="-342900" algn="l">
              <a:buChar char="•"/>
            </a:pPr>
            <a:r>
              <a:rPr sz="750">
                <a:solidFill>
                  <a:srgbClr val="14532D"/>
                </a:solidFill>
              </a:rPr>
              <a:t>Suggest future enhancements</a:t>
            </a:r>
          </a:p>
        </p:txBody>
      </p:sp>
      <p:sp>
        <p:nvSpPr>
          <p:cNvPr id="44" name="Oval 43"/>
          <p:cNvSpPr/>
          <p:nvPr/>
        </p:nvSpPr>
        <p:spPr>
          <a:xfrm>
            <a:off x="10190987" y="6547104"/>
            <a:ext cx="1371600" cy="402336"/>
          </a:xfrm>
          <a:prstGeom prst="ellipse">
            <a:avLst/>
          </a:prstGeom>
          <a:solidFill>
            <a:srgbClr val="1A6B30"/>
          </a:solidFill>
          <a:ln w="22860">
            <a:solidFill>
              <a:srgbClr val="134D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 dirty="0">
                <a:solidFill>
                  <a:srgbClr val="FFFFFF"/>
                </a:solidFill>
              </a:rPr>
              <a:t>END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006840" y="5724144"/>
            <a:ext cx="713232" cy="0"/>
          </a:xfrm>
          <a:prstGeom prst="line">
            <a:avLst/>
          </a:prstGeom>
          <a:ln w="25400">
            <a:solidFill>
              <a:srgbClr val="1580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cxnSpLocks/>
          </p:cNvCxnSpPr>
          <p:nvPr/>
        </p:nvCxnSpPr>
        <p:spPr>
          <a:xfrm>
            <a:off x="10840211" y="6355079"/>
            <a:ext cx="0" cy="192025"/>
          </a:xfrm>
          <a:prstGeom prst="line">
            <a:avLst/>
          </a:prstGeom>
          <a:ln w="2286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82880" y="6656832"/>
            <a:ext cx="1179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8899AA"/>
                </a:solidFill>
              </a:rPr>
              <a:t>Double Gate MOSFET Simulation — Design Flow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4C2BF57-75E5-C7C3-95C8-1280449819E5}"/>
              </a:ext>
            </a:extLst>
          </p:cNvPr>
          <p:cNvCxnSpPr>
            <a:cxnSpLocks/>
          </p:cNvCxnSpPr>
          <p:nvPr/>
        </p:nvCxnSpPr>
        <p:spPr>
          <a:xfrm flipH="1">
            <a:off x="1728343" y="1162812"/>
            <a:ext cx="8001" cy="457657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FCE2BF5-4F90-755F-ED43-D88CDC60D8A7}"/>
              </a:ext>
            </a:extLst>
          </p:cNvPr>
          <p:cNvCxnSpPr>
            <a:cxnSpLocks/>
          </p:cNvCxnSpPr>
          <p:nvPr/>
        </p:nvCxnSpPr>
        <p:spPr>
          <a:xfrm>
            <a:off x="1732343" y="1170431"/>
            <a:ext cx="16647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B67B039-D043-3A56-E134-873B8BCD725B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1722756" y="5724143"/>
            <a:ext cx="14319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195</Words>
  <Application>Microsoft Office PowerPoint</Application>
  <PresentationFormat>Custom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jagirthi abhinay</dc:creator>
  <cp:keywords/>
  <dc:description>generated using python-pptx</dc:description>
  <cp:lastModifiedBy>jagirthi abhinay</cp:lastModifiedBy>
  <cp:revision>6</cp:revision>
  <dcterms:created xsi:type="dcterms:W3CDTF">2013-01-27T09:14:16Z</dcterms:created>
  <dcterms:modified xsi:type="dcterms:W3CDTF">2026-02-17T13:46:04Z</dcterms:modified>
  <cp:category/>
</cp:coreProperties>
</file>