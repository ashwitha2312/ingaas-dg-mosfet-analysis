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84" r:id="rId3"/>
    <p:sldId id="275" r:id="rId4"/>
    <p:sldId id="283" r:id="rId5"/>
    <p:sldId id="281" r:id="rId6"/>
    <p:sldId id="280" r:id="rId7"/>
    <p:sldId id="277" r:id="rId8"/>
    <p:sldId id="285" r:id="rId9"/>
    <p:sldId id="287" r:id="rId10"/>
    <p:sldId id="288" r:id="rId11"/>
    <p:sldId id="289" r:id="rId12"/>
    <p:sldId id="291" r:id="rId13"/>
    <p:sldId id="290" r:id="rId14"/>
    <p:sldId id="292" r:id="rId15"/>
    <p:sldId id="294" r:id="rId16"/>
    <p:sldId id="293" r:id="rId17"/>
    <p:sldId id="282" r:id="rId18"/>
    <p:sldId id="279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8D35D668-F8F9-4CB8-B16D-96222BAA1C0A}">
          <p14:sldIdLst>
            <p14:sldId id="256"/>
            <p14:sldId id="284"/>
            <p14:sldId id="275"/>
            <p14:sldId id="283"/>
            <p14:sldId id="281"/>
            <p14:sldId id="280"/>
            <p14:sldId id="277"/>
            <p14:sldId id="285"/>
            <p14:sldId id="287"/>
            <p14:sldId id="288"/>
            <p14:sldId id="289"/>
            <p14:sldId id="291"/>
            <p14:sldId id="290"/>
            <p14:sldId id="292"/>
            <p14:sldId id="294"/>
            <p14:sldId id="293"/>
            <p14:sldId id="282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W8FONrof2oM5paDlLK+r2S1Eq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BC642B1-3F16-4312-B2C2-3299CEB66A62}">
  <a:tblStyle styleId="{CBC642B1-3F16-4312-B2C2-3299CEB66A62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999951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6" name="Google Shape;1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 b="1">
                <a:solidFill>
                  <a:srgbClr val="9E361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sz="1600" b="1"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body" idx="2"/>
          </p:nvPr>
        </p:nvSpPr>
        <p:spPr>
          <a:xfrm>
            <a:off x="1069848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22" name="Google Shape;22;p19"/>
          <p:cNvSpPr txBox="1">
            <a:spLocks noGrp="1"/>
          </p:cNvSpPr>
          <p:nvPr>
            <p:ph type="body" idx="3"/>
          </p:nvPr>
        </p:nvSpPr>
        <p:spPr>
          <a:xfrm>
            <a:off x="6364224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 b="1">
                <a:solidFill>
                  <a:srgbClr val="9E361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sz="1600" b="1"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4"/>
          </p:nvPr>
        </p:nvSpPr>
        <p:spPr>
          <a:xfrm>
            <a:off x="6364224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D4917E1-1351-48E7-B6C8-DE8186F0704B}" type="datetime3">
              <a:rPr lang="en-US" smtClean="0"/>
              <a:t>28 May 2026</a:t>
            </a:fld>
            <a:endParaRPr dirty="0"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Industry Oriented Mini Project (2025-26) – DEPARTMENT OF ECE , CVR COLLEGE OF ENGINEERING</a:t>
            </a:r>
            <a:endParaRPr dirty="0"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9C7B0AE-F067-4F91-9ECB-FAE13184135E}" type="datetime3">
              <a:rPr lang="en-US" smtClean="0"/>
              <a:t>28 May 2026</a:t>
            </a:fld>
            <a:endParaRPr dirty="0"/>
          </a:p>
        </p:txBody>
      </p:sp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Industry Oriented Mini Project (2025-26) – DEPARTMENT OF ECE , CVR COLLEGE OF ENGINEERING</a:t>
            </a:r>
            <a:endParaRPr dirty="0"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6200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" name="Google Shape;35;p21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175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" name="Google Shape;36;p21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7" name="Google Shape;37;p21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38" name="Google Shape;38;p21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39;p2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0" name="Google Shape;40;p21"/>
          <p:cNvSpPr txBox="1"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ockwell"/>
              <a:buNone/>
              <a:defRPr sz="9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7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700"/>
              <a:buNone/>
              <a:defRPr sz="2000"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23A6149-7A6A-4A91-A33A-B87716F70425}" type="datetime3">
              <a:rPr lang="en-US" smtClean="0"/>
              <a:t>28 May 2026</a:t>
            </a:fld>
            <a:endParaRPr dirty="0"/>
          </a:p>
        </p:txBody>
      </p:sp>
      <p:sp>
        <p:nvSpPr>
          <p:cNvPr id="43" name="Google Shape;43;p21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Industry Oriented Mini Project (2025-26) – DEPARTMENT OF ECE , CVR COLLEGE OF ENGINEERING</a:t>
            </a:r>
            <a:endParaRPr dirty="0"/>
          </a:p>
        </p:txBody>
      </p:sp>
      <p:sp>
        <p:nvSpPr>
          <p:cNvPr id="44" name="Google Shape;44;p21"/>
          <p:cNvSpPr txBox="1">
            <a:spLocks noGrp="1"/>
          </p:cNvSpPr>
          <p:nvPr>
            <p:ph type="sldNum" idx="12"/>
          </p:nvPr>
        </p:nvSpPr>
        <p:spPr>
          <a:xfrm>
            <a:off x="9592733" y="4289334"/>
            <a:ext cx="11938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lvl="1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lvl="2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lvl="3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lvl="4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lvl="5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lvl="6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lvl="7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lvl="8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" name="Google Shape;47;p22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  <a:defRPr sz="80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dt" idx="10"/>
          </p:nvPr>
        </p:nvSpPr>
        <p:spPr>
          <a:xfrm>
            <a:off x="8593667" y="6272784"/>
            <a:ext cx="2644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D307F6C-1C56-4CCE-856D-673B986DE566}" type="datetime3">
              <a:rPr lang="en-US" smtClean="0"/>
              <a:t>28 May 2026</a:t>
            </a:fld>
            <a:endParaRPr dirty="0"/>
          </a:p>
        </p:txBody>
      </p:sp>
      <p:sp>
        <p:nvSpPr>
          <p:cNvPr id="50" name="Google Shape;50;p22"/>
          <p:cNvSpPr txBox="1">
            <a:spLocks noGrp="1"/>
          </p:cNvSpPr>
          <p:nvPr>
            <p:ph type="ftr" idx="11"/>
          </p:nvPr>
        </p:nvSpPr>
        <p:spPr>
          <a:xfrm>
            <a:off x="2182708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Industry Oriented Mini Project (2025-26) – DEPARTMENT OF ECE , CVR COLLEGE OF ENGINEERING</a:t>
            </a:r>
            <a:endParaRPr dirty="0"/>
          </a:p>
        </p:txBody>
      </p:sp>
      <p:grpSp>
        <p:nvGrpSpPr>
          <p:cNvPr id="51" name="Google Shape;51;p22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52" name="Google Shape;52;p22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" name="Google Shape;53;p22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4" name="Google Shape;54;p22"/>
          <p:cNvSpPr txBox="1">
            <a:spLocks noGrp="1"/>
          </p:cNvSpPr>
          <p:nvPr>
            <p:ph type="sldNum" idx="12"/>
          </p:nvPr>
        </p:nvSpPr>
        <p:spPr>
          <a:xfrm>
            <a:off x="843702" y="2506133"/>
            <a:ext cx="1188298" cy="72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lvl="1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lvl="2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lvl="3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lvl="4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lvl="5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lvl="6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lvl="7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lvl="8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1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body" idx="2"/>
          </p:nvPr>
        </p:nvSpPr>
        <p:spPr>
          <a:xfrm>
            <a:off x="6364224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7276BCC-4F2A-4056-9D8A-0E6803B92CBC}" type="datetime3">
              <a:rPr lang="en-US" smtClean="0"/>
              <a:t>28 May 2026</a:t>
            </a:fld>
            <a:endParaRPr dirty="0"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Industry Oriented Mini Project (2025-26) – DEPARTMENT OF ECE , CVR COLLEGE OF ENGINEERING</a:t>
            </a:r>
            <a:endParaRPr dirty="0"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26E80BC-9D11-461D-A949-78548FF480D7}" type="datetime3">
              <a:rPr lang="en-US" smtClean="0"/>
              <a:t>28 May 2026</a:t>
            </a:fld>
            <a:endParaRPr dirty="0"/>
          </a:p>
        </p:txBody>
      </p:sp>
      <p:sp>
        <p:nvSpPr>
          <p:cNvPr id="65" name="Google Shape;65;p24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Industry Oriented Mini Project (2025-26) – DEPARTMENT OF ECE , CVR COLLEGE OF ENGINEERING</a:t>
            </a:r>
            <a:endParaRPr dirty="0"/>
          </a:p>
        </p:txBody>
      </p:sp>
      <p:sp>
        <p:nvSpPr>
          <p:cNvPr id="66" name="Google Shape;66;p24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5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C1B2448-B02B-4C4D-8448-C56D43D678DD}" type="datetime3">
              <a:rPr lang="en-US" smtClean="0"/>
              <a:t>28 May 2026</a:t>
            </a:fld>
            <a:endParaRPr dirty="0"/>
          </a:p>
        </p:txBody>
      </p:sp>
      <p:sp>
        <p:nvSpPr>
          <p:cNvPr id="69" name="Google Shape;69;p25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Industry Oriented Mini Project (2025-26) – DEPARTMENT OF ECE , CVR COLLEGE OF ENGINEERING</a:t>
            </a:r>
            <a:endParaRPr dirty="0"/>
          </a:p>
        </p:txBody>
      </p:sp>
      <p:sp>
        <p:nvSpPr>
          <p:cNvPr id="70" name="Google Shape;70;p25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6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3" name="Google Shape;73;p26"/>
          <p:cNvSpPr txBox="1"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sz="3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body" idx="1"/>
          </p:nvPr>
        </p:nvSpPr>
        <p:spPr>
          <a:xfrm>
            <a:off x="838200" y="685800"/>
            <a:ext cx="6711696" cy="502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body" idx="2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736CD46-4AEB-49D8-9957-7F1A35A34B9A}" type="datetime3">
              <a:rPr lang="en-US" smtClean="0"/>
              <a:t>28 May 2026</a:t>
            </a:fld>
            <a:endParaRPr dirty="0"/>
          </a:p>
        </p:txBody>
      </p:sp>
      <p:sp>
        <p:nvSpPr>
          <p:cNvPr id="77" name="Google Shape;77;p26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Industry Oriented Mini Project (2025-26) – DEPARTMENT OF ECE , CVR COLLEGE OF ENGINEERING</a:t>
            </a:r>
            <a:endParaRPr dirty="0"/>
          </a:p>
        </p:txBody>
      </p:sp>
      <p:grpSp>
        <p:nvGrpSpPr>
          <p:cNvPr id="78" name="Google Shape;78;p26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79" name="Google Shape;79;p26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" name="Google Shape;80;p26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81" name="Google Shape;81;p26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" name="Google Shape;84;p27"/>
          <p:cNvSpPr txBox="1"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sz="3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>
            <a:spLocks noGrp="1"/>
          </p:cNvSpPr>
          <p:nvPr>
            <p:ph type="pic" idx="2"/>
          </p:nvPr>
        </p:nvSpPr>
        <p:spPr>
          <a:xfrm>
            <a:off x="0" y="0"/>
            <a:ext cx="8303740" cy="6858000"/>
          </a:xfrm>
          <a:prstGeom prst="rect">
            <a:avLst/>
          </a:prstGeom>
          <a:solidFill>
            <a:srgbClr val="E1DFDF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72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238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None/>
              <a:defRPr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7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 dirty="0"/>
          </a:p>
        </p:txBody>
      </p:sp>
      <p:sp>
        <p:nvSpPr>
          <p:cNvPr id="86" name="Google Shape;86;p27"/>
          <p:cNvSpPr txBox="1">
            <a:spLocks noGrp="1"/>
          </p:cNvSpPr>
          <p:nvPr>
            <p:ph type="body" idx="1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9746167-37CA-4D16-8163-F9C18FDE0CD0}" type="datetime3">
              <a:rPr lang="en-US" smtClean="0"/>
              <a:t>28 May 2026</a:t>
            </a:fld>
            <a:endParaRPr dirty="0"/>
          </a:p>
        </p:txBody>
      </p:sp>
      <p:grpSp>
        <p:nvGrpSpPr>
          <p:cNvPr id="88" name="Google Shape;88;p27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9" name="Google Shape;89;p2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" name="Google Shape;90;p27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91" name="Google Shape;91;p27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body" idx="1"/>
          </p:nvPr>
        </p:nvSpPr>
        <p:spPr>
          <a:xfrm rot="5400000">
            <a:off x="4073652" y="-882396"/>
            <a:ext cx="4050792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2B1ADED-94CB-4DB1-B1F8-C07968FEAB44}" type="datetime3">
              <a:rPr lang="en-US" smtClean="0"/>
              <a:t>28 May 2026</a:t>
            </a:fld>
            <a:endParaRPr dirty="0"/>
          </a:p>
        </p:txBody>
      </p:sp>
      <p:sp>
        <p:nvSpPr>
          <p:cNvPr id="96" name="Google Shape;96;p28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Industry Oriented Mini Project (2025-26) – DEPARTMENT OF ECE , CVR COLLEGE OF ENGINEERING</a:t>
            </a:r>
            <a:endParaRPr dirty="0"/>
          </a:p>
        </p:txBody>
      </p:sp>
      <p:sp>
        <p:nvSpPr>
          <p:cNvPr id="97" name="Google Shape;97;p28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9"/>
          <p:cNvSpPr txBox="1">
            <a:spLocks noGrp="1"/>
          </p:cNvSpPr>
          <p:nvPr>
            <p:ph type="title"/>
          </p:nvPr>
        </p:nvSpPr>
        <p:spPr>
          <a:xfrm rot="5400000">
            <a:off x="7181850" y="2076450"/>
            <a:ext cx="5638800" cy="25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body" idx="1"/>
          </p:nvPr>
        </p:nvSpPr>
        <p:spPr>
          <a:xfrm rot="5400000">
            <a:off x="2000250" y="-400050"/>
            <a:ext cx="5638800" cy="75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8A94F67-5B42-4ABD-BEF3-FA6D9CDDB3B1}" type="datetime3">
              <a:rPr lang="en-US" smtClean="0"/>
              <a:t>28 May 2026</a:t>
            </a:fld>
            <a:endParaRPr dirty="0"/>
          </a:p>
        </p:txBody>
      </p:sp>
      <p:sp>
        <p:nvSpPr>
          <p:cNvPr id="102" name="Google Shape;102;p29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Industry Oriented Mini Project (2025-26) – DEPARTMENT OF ECE , CVR COLLEGE OF ENGINEERING</a:t>
            </a:r>
            <a:endParaRPr dirty="0"/>
          </a:p>
        </p:txBody>
      </p:sp>
      <p:sp>
        <p:nvSpPr>
          <p:cNvPr id="103" name="Google Shape;103;p29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  <a:defRPr sz="5400" b="0" i="0" u="none" strike="noStrike" cap="none"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1495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14959" algn="l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fld id="{565A95E6-057B-45AA-862C-2DF606CA0B2A}" type="datetime3">
              <a:rPr lang="en-US" smtClean="0"/>
              <a:t>28 May 2026</a:t>
            </a:fld>
            <a:endParaRPr dirty="0"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r>
              <a:rPr lang="en-GB"/>
              <a:t>Industry Oriented Mini Project (2025-26) – DEPARTMENT OF ECE , CVR COLLEGE OF ENGINEERING</a:t>
            </a:r>
            <a:endParaRPr dirty="0"/>
          </a:p>
        </p:txBody>
      </p:sp>
      <p:grpSp>
        <p:nvGrpSpPr>
          <p:cNvPr id="14" name="Google Shape;14;p18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5" name="Google Shape;15;p1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13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16;p1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7" name="Google Shape;17;p18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>
            <a:spLocks noGrp="1"/>
          </p:cNvSpPr>
          <p:nvPr>
            <p:ph type="title"/>
          </p:nvPr>
        </p:nvSpPr>
        <p:spPr>
          <a:xfrm>
            <a:off x="1069848" y="2480092"/>
            <a:ext cx="10537901" cy="1755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9E3611"/>
              </a:buClr>
              <a:buSzPts val="4860"/>
            </a:pPr>
            <a:r>
              <a:rPr lang="en-US" sz="3200" dirty="0">
                <a:solidFill>
                  <a:schemeClr val="accent2"/>
                </a:solidFill>
              </a:rPr>
              <a:t>Performance Analysis of </a:t>
            </a:r>
            <a:r>
              <a:rPr lang="en-US" sz="3200" dirty="0" err="1">
                <a:solidFill>
                  <a:schemeClr val="accent2"/>
                </a:solidFill>
              </a:rPr>
              <a:t>InGaAs</a:t>
            </a:r>
            <a:r>
              <a:rPr lang="en-US" sz="3200" dirty="0">
                <a:solidFill>
                  <a:schemeClr val="accent2"/>
                </a:solidFill>
              </a:rPr>
              <a:t> based Double Gate MOSFETs: Impact of Gate Dielectric Material and Thickness</a:t>
            </a:r>
            <a:br>
              <a:rPr lang="en-IN" dirty="0">
                <a:solidFill>
                  <a:schemeClr val="accent2"/>
                </a:solidFill>
              </a:rPr>
            </a:b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9DCF4-CFD5-1867-378B-B1518AD5C08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8ADF45-8532-0C98-A565-D6681DC14DC2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07204-31CD-774A-983B-8F045D2A6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551" y="553457"/>
            <a:ext cx="10058400" cy="328168"/>
          </a:xfrm>
        </p:spPr>
        <p:txBody>
          <a:bodyPr>
            <a:noAutofit/>
          </a:bodyPr>
          <a:lstStyle/>
          <a:p>
            <a:pPr algn="ctr"/>
            <a:r>
              <a:rPr lang="en-US" sz="2900" b="1" dirty="0">
                <a:latin typeface="+mj-lt"/>
              </a:rPr>
              <a:t>Abstract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85FDD-FFF2-712C-5E5A-6F9B3A35F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2728" y="1613252"/>
            <a:ext cx="10058400" cy="4779781"/>
          </a:xfrm>
        </p:spPr>
        <p:txBody>
          <a:bodyPr>
            <a:noAutofit/>
          </a:bodyPr>
          <a:lstStyle/>
          <a:p>
            <a:pPr marL="131445" indent="0" algn="just"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As conventional silicon-based MOSFETs approach their scaling limits, issues such as short-channel effects, increased leakage current, and degraded electrostatic control significantly hinder further improvements in device performance. To address these challenges, this work presents a comprehensive simulation-based analysis of Double Gate (DG) MOSFETs using both silicon and Indium Gallium Arsenide (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InGaAs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) as channel materials, employing Synopsys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Sentaurus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TCAD. Initially, a silicon-based DG MOSFET is designed and evaluated, revealing limitations in current drive and switching efficiency due to lower carrier mobility. Subsequently, an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InGaAs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-based DG MOSFET is developed, demonstrating superior performance through enhanced electron mobility and improved carrier transport.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D2B37-D73C-9813-E3DF-C306E7C5CF7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9C7B0AE-F067-4F91-9ECB-FAE13184135E}" type="datetime3">
              <a:rPr lang="en-US" smtClean="0"/>
              <a:t>28 May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929AD-C7B6-D211-30AD-50467CDB6B3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C48D9-9EC8-73A3-198C-EFD3617D3B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71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9444" y="329462"/>
            <a:ext cx="2650118" cy="608206"/>
          </a:xfrm>
        </p:spPr>
        <p:txBody>
          <a:bodyPr>
            <a:noAutofit/>
          </a:bodyPr>
          <a:lstStyle/>
          <a:p>
            <a:r>
              <a:rPr lang="en-US" sz="2900" b="1" dirty="0">
                <a:latin typeface="+mj-lt"/>
                <a:ea typeface="Arial"/>
                <a:cs typeface="Times New Roman" panose="02020603050405020304" pitchFamily="18" charset="0"/>
                <a:sym typeface="Arial"/>
              </a:rPr>
              <a:t>Introduction</a:t>
            </a:r>
            <a:endParaRPr lang="en-IN" sz="29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226623"/>
            <a:ext cx="10058400" cy="4050792"/>
          </a:xfrm>
        </p:spPr>
        <p:txBody>
          <a:bodyPr/>
          <a:lstStyle/>
          <a:p>
            <a:pPr marL="0" lvl="0" indent="0">
              <a:spcBef>
                <a:spcPts val="0"/>
              </a:spcBef>
              <a:buSzPts val="1700"/>
              <a:buNone/>
            </a:pPr>
            <a:endParaRPr lang="en-US" dirty="0"/>
          </a:p>
          <a:p>
            <a:pPr marL="342900" lvl="0" indent="-342900">
              <a:spcBef>
                <a:spcPts val="0"/>
              </a:spcBef>
              <a:buSzPts val="1700"/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ts val="1700"/>
              <a:buNone/>
            </a:pPr>
            <a:r>
              <a:rPr lang="en-US" altLang="en-US" dirty="0">
                <a:solidFill>
                  <a:schemeClr val="tx1"/>
                </a:solidFill>
                <a:latin typeface="+mn-lt"/>
              </a:rPr>
              <a:t>This project investigates the impact of gate dielectric material and oxide thickness on the performance of a Double Gate MOSFET. As device dimensions scale down into the nanometer regime, controlling short-channel effects and leakage currents becomes increasingly critical. By varying dielectric materials such as </a:t>
            </a:r>
            <a:r>
              <a:rPr lang="en-US" altLang="en-US" dirty="0" err="1">
                <a:solidFill>
                  <a:schemeClr val="tx1"/>
                </a:solidFill>
                <a:latin typeface="+mn-lt"/>
              </a:rPr>
              <a:t>SiO</a:t>
            </a:r>
            <a:r>
              <a:rPr lang="en-US" altLang="en-US" dirty="0">
                <a:solidFill>
                  <a:schemeClr val="tx1"/>
                </a:solidFill>
                <a:latin typeface="+mn-lt"/>
              </a:rPr>
              <a:t>₂ and high-k materials, along with different oxide thicknesses, the electrical characteristics of the device are analyzed. Key performance parameters including threshold voltage, ON/OFF current ratio, and subthreshold slope are evaluated through simulation. The study aims to identify the optimal dielectric material and thickness combination for enhanced device performance and improved scalability.</a:t>
            </a:r>
          </a:p>
          <a:p>
            <a:pPr marL="0" lvl="0" indent="0">
              <a:spcBef>
                <a:spcPts val="0"/>
              </a:spcBef>
              <a:buSzPts val="1700"/>
              <a:buNone/>
            </a:pPr>
            <a:r>
              <a:rPr lang="en-US" dirty="0">
                <a:latin typeface="+mn-lt"/>
              </a:rPr>
              <a:t> </a:t>
            </a:r>
          </a:p>
          <a:p>
            <a:pPr marL="0" lvl="0" indent="0">
              <a:spcBef>
                <a:spcPts val="0"/>
              </a:spcBef>
              <a:buSzPts val="1700"/>
              <a:buNone/>
            </a:pPr>
            <a:endParaRPr lang="en-US" dirty="0"/>
          </a:p>
          <a:p>
            <a:pPr marL="0" lvl="0" indent="0">
              <a:spcBef>
                <a:spcPts val="0"/>
              </a:spcBef>
              <a:buSzPts val="1700"/>
              <a:buNone/>
            </a:pPr>
            <a:endParaRPr lang="en-US" dirty="0"/>
          </a:p>
          <a:p>
            <a:pPr marL="0" lvl="0" indent="0">
              <a:spcBef>
                <a:spcPts val="0"/>
              </a:spcBef>
              <a:buSzPts val="1700"/>
              <a:buNone/>
            </a:pPr>
            <a:endParaRPr lang="en-US" dirty="0"/>
          </a:p>
          <a:p>
            <a:pPr marL="0" lvl="0" indent="0">
              <a:spcBef>
                <a:spcPts val="0"/>
              </a:spcBef>
              <a:buSzPts val="1700"/>
              <a:buNone/>
            </a:pPr>
            <a:endParaRPr lang="en-US" dirty="0"/>
          </a:p>
          <a:p>
            <a:pPr marL="0" lvl="0" indent="0">
              <a:spcBef>
                <a:spcPts val="0"/>
              </a:spcBef>
              <a:buSzPts val="1700"/>
              <a:buNone/>
            </a:pPr>
            <a:endParaRPr lang="en-US" dirty="0"/>
          </a:p>
          <a:p>
            <a:pPr marL="0" lvl="0" indent="0">
              <a:spcBef>
                <a:spcPts val="0"/>
              </a:spcBef>
              <a:buSzPts val="1700"/>
              <a:buNone/>
            </a:pPr>
            <a:endParaRPr lang="en-US" dirty="0"/>
          </a:p>
          <a:p>
            <a:pPr marL="0" lvl="0" indent="0">
              <a:spcBef>
                <a:spcPts val="0"/>
              </a:spcBef>
              <a:buSzPts val="1700"/>
              <a:buNone/>
            </a:pPr>
            <a:endParaRPr lang="en-US" dirty="0"/>
          </a:p>
          <a:p>
            <a:pPr marL="131445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12CB848-B3C6-4C30-AF26-056A299ADAFC}" type="datetime3">
              <a:rPr lang="en-US" smtClean="0"/>
              <a:t>28 May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50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68E68-53BB-2CFB-3B2D-04D3F2C3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17377-8754-856A-969E-1430A3891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431" y="329462"/>
            <a:ext cx="2650118" cy="608206"/>
          </a:xfrm>
        </p:spPr>
        <p:txBody>
          <a:bodyPr>
            <a:noAutofit/>
          </a:bodyPr>
          <a:lstStyle/>
          <a:p>
            <a:r>
              <a:rPr lang="en-US" sz="2900" b="1" dirty="0">
                <a:latin typeface="+mj-lt"/>
              </a:rPr>
              <a:t>Objectives</a:t>
            </a:r>
            <a:endParaRPr lang="en-IN" sz="2900" b="1" dirty="0"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C0668-75D7-46E8-77FC-1CD0C25FE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1403604"/>
            <a:ext cx="10058400" cy="4050792"/>
          </a:xfrm>
        </p:spPr>
        <p:txBody>
          <a:bodyPr>
            <a:normAutofit/>
          </a:bodyPr>
          <a:lstStyle/>
          <a:p>
            <a:pPr marL="342900" indent="-342900" algn="just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</a:rPr>
              <a:t>Design and simulate both silicon-based and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InGaAs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-based Double Gate MOSFETs using Synopsys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Sentaurus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TCAD.</a:t>
            </a:r>
          </a:p>
          <a:p>
            <a:pPr marL="342900" indent="-342900" algn="just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</a:rPr>
              <a:t>Perform comparative analysis of transfer characteristics (IDS–VGS): ON-current, switching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behaviour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, and overall device efficiency.</a:t>
            </a:r>
          </a:p>
          <a:p>
            <a:pPr marL="342900" indent="-342900" algn="just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</a:rPr>
              <a:t>Investigate the effect of gate oxide thickness (Tox) on threshold voltage (VT) and subthreshold swing (SS).</a:t>
            </a:r>
          </a:p>
          <a:p>
            <a:pPr marL="342900" indent="-342900" algn="just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</a:rPr>
              <a:t>Study the effect of gate dielectric materials with varying dielectric constants (k):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SiO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₂,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Si₃N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₄,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Al₂O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₃,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HfO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₂.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3506F-36AC-247E-9C5E-8C63484E03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76AF7-E9CC-A27E-426B-7BE450F724E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12CB848-B3C6-4C30-AF26-056A299ADAFC}" type="datetime3">
              <a:rPr lang="en-US" smtClean="0"/>
              <a:t>28 May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687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3705" y="335803"/>
            <a:ext cx="6330461" cy="685018"/>
          </a:xfrm>
        </p:spPr>
        <p:txBody>
          <a:bodyPr>
            <a:normAutofit/>
          </a:bodyPr>
          <a:lstStyle/>
          <a:p>
            <a:r>
              <a:rPr lang="en-US" sz="2900" b="1" dirty="0">
                <a:latin typeface="+mj-lt"/>
              </a:rPr>
              <a:t>Software components</a:t>
            </a:r>
            <a:endParaRPr lang="en-IN" sz="2900" b="1" dirty="0"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075" y="1020821"/>
            <a:ext cx="10058400" cy="104664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+mn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b="1" dirty="0">
              <a:solidFill>
                <a:schemeClr val="tx1"/>
              </a:solidFill>
              <a:latin typeface="+mn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+mn-lt"/>
              </a:rPr>
              <a:t>Tool used: Synopsys </a:t>
            </a:r>
            <a:r>
              <a:rPr lang="en-US" altLang="en-US" dirty="0" err="1">
                <a:solidFill>
                  <a:schemeClr val="tx1"/>
                </a:solidFill>
                <a:latin typeface="+mn-lt"/>
              </a:rPr>
              <a:t>Sentaurus</a:t>
            </a:r>
            <a:r>
              <a:rPr lang="en-US" altLang="en-US" dirty="0">
                <a:solidFill>
                  <a:schemeClr val="tx1"/>
                </a:solidFill>
                <a:latin typeface="+mn-lt"/>
              </a:rPr>
              <a:t> TCAD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>
              <a:spcBef>
                <a:spcPts val="0"/>
              </a:spcBef>
              <a:buSzPts val="1700"/>
              <a:buNone/>
            </a:pPr>
            <a:endParaRPr lang="en-US" dirty="0"/>
          </a:p>
          <a:p>
            <a:pPr marL="0" lvl="0" indent="0">
              <a:spcBef>
                <a:spcPts val="0"/>
              </a:spcBef>
              <a:buSzPts val="1700"/>
              <a:buNone/>
            </a:pPr>
            <a:endParaRPr lang="en-US" dirty="0"/>
          </a:p>
          <a:p>
            <a:pPr marL="0" lvl="0" indent="0">
              <a:spcBef>
                <a:spcPts val="0"/>
              </a:spcBef>
              <a:buSzPts val="1700"/>
              <a:buNone/>
            </a:pPr>
            <a:endParaRPr lang="en-US" dirty="0"/>
          </a:p>
          <a:p>
            <a:pPr marL="0" lvl="0" indent="0">
              <a:spcBef>
                <a:spcPts val="0"/>
              </a:spcBef>
              <a:buSzPts val="1700"/>
              <a:buNone/>
            </a:pPr>
            <a:endParaRPr lang="en-US" dirty="0"/>
          </a:p>
          <a:p>
            <a:pPr marL="0" lvl="0" indent="0">
              <a:spcBef>
                <a:spcPts val="0"/>
              </a:spcBef>
              <a:buSzPts val="1700"/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36A998-0548-43F6-8E42-C3158BAF2835}" type="datetime3">
              <a:rPr lang="en-US" smtClean="0"/>
              <a:t>28 May 2026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EB6F8D-C836-15AD-D7CC-9FB227952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17" y="2252621"/>
            <a:ext cx="10507917" cy="340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381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69AD1A9-53F3-4C49-A8B0-C3E4CA057118}" type="datetime3">
              <a:rPr lang="en-US" smtClean="0"/>
              <a:t>28 May 2026</a:t>
            </a:fld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676787" y="-91473"/>
            <a:ext cx="7290033" cy="973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54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00" b="1" dirty="0">
                <a:latin typeface="+mj-lt"/>
              </a:rPr>
              <a:t>Flow Chart</a:t>
            </a:r>
            <a:endParaRPr lang="en-IN" sz="2900" b="1" dirty="0">
              <a:latin typeface="+mj-lt"/>
            </a:endParaRPr>
          </a:p>
        </p:txBody>
      </p:sp>
      <p:sp>
        <p:nvSpPr>
          <p:cNvPr id="11" name="Text Placeholder 2"/>
          <p:cNvSpPr txBox="1">
            <a:spLocks/>
          </p:cNvSpPr>
          <p:nvPr/>
        </p:nvSpPr>
        <p:spPr>
          <a:xfrm>
            <a:off x="1390927" y="882493"/>
            <a:ext cx="10058400" cy="4763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5755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32575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32575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2575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2575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25754" algn="l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indent="0">
              <a:spcBef>
                <a:spcPts val="0"/>
              </a:spcBef>
              <a:buSzPts val="1700"/>
              <a:buFont typeface="Noto Sans Symbols"/>
              <a:buNone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spcBef>
                <a:spcPts val="0"/>
              </a:spcBef>
              <a:buSzPts val="1700"/>
              <a:buFont typeface="Noto Sans Symbols"/>
              <a:buNone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spcBef>
                <a:spcPts val="0"/>
              </a:spcBef>
              <a:buSzPts val="1700"/>
              <a:buFont typeface="Noto Sans Symbols"/>
              <a:buNone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spcBef>
                <a:spcPts val="0"/>
              </a:spcBef>
              <a:buSzPts val="1700"/>
              <a:buFont typeface="Noto Sans Symbols"/>
              <a:buNone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spcBef>
                <a:spcPts val="0"/>
              </a:spcBef>
              <a:buSzPts val="1700"/>
              <a:buFont typeface="Noto Sans Symbols"/>
              <a:buNone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660911-AEAA-0998-E5AA-B982FF14A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746" y="882493"/>
            <a:ext cx="10058400" cy="528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460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2855" y="304045"/>
            <a:ext cx="5866228" cy="716776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+mj-lt"/>
              </a:rPr>
              <a:t>Methodology /Working principle</a:t>
            </a:r>
            <a:endParaRPr lang="en-IN" sz="3200" b="1" dirty="0"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0111" y="993743"/>
            <a:ext cx="10651715" cy="4870513"/>
          </a:xfrm>
        </p:spPr>
        <p:txBody>
          <a:bodyPr>
            <a:noAutofit/>
          </a:bodyPr>
          <a:lstStyle/>
          <a:p>
            <a:pPr marL="0" lvl="0" indent="0" algn="just">
              <a:spcBef>
                <a:spcPts val="0"/>
              </a:spcBef>
              <a:buSzPts val="1700"/>
              <a:buNone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Define Device Specifications-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Select DG-MOSFET structure, channel dimensions, dielectric materials, thickness range, and bias conditions.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Design </a:t>
            </a:r>
            <a:r>
              <a:rPr lang="en-US" altLang="en-US" b="1" dirty="0">
                <a:solidFill>
                  <a:schemeClr val="tx1"/>
                </a:solidFill>
                <a:latin typeface="+mn-lt"/>
              </a:rPr>
              <a:t>Device Structure- </a:t>
            </a:r>
            <a:r>
              <a:rPr lang="en-US" altLang="en-US" dirty="0">
                <a:solidFill>
                  <a:schemeClr val="tx1"/>
                </a:solidFill>
                <a:latin typeface="+mn-lt"/>
              </a:rPr>
              <a:t>Create the Double Gate MOSFET geometry using SDE with defined source, drain, channel, and gate dielectric layers.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lang="en-US" altLang="en-US" b="1" dirty="0">
                <a:solidFill>
                  <a:schemeClr val="tx1"/>
                </a:solidFill>
                <a:latin typeface="+mn-lt"/>
              </a:rPr>
              <a:t>Apply Physical Models- </a:t>
            </a:r>
            <a:r>
              <a:rPr lang="en-US" altLang="en-US" dirty="0">
                <a:solidFill>
                  <a:schemeClr val="tx1"/>
                </a:solidFill>
                <a:latin typeface="+mn-lt"/>
              </a:rPr>
              <a:t>Implement appropriate models (drift-diffusion, mobility, recombination) in </a:t>
            </a:r>
            <a:r>
              <a:rPr lang="en-US" altLang="en-US" dirty="0" err="1">
                <a:solidFill>
                  <a:schemeClr val="tx1"/>
                </a:solidFill>
                <a:latin typeface="+mn-lt"/>
              </a:rPr>
              <a:t>SDevice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Perform Simulations-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Run DC simulations to obtain transfer (I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d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–Vg) and output (I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d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–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V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d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) characteristics.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Extract Performance Parameters-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Determine threshold voltage, ON/OFF current ratio, subthreshold slope, and leakage current.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Compare Different Cases-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Analyze the effect of varying dielectric material and oxide thickness on device performance.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latin typeface="+mn-lt"/>
              </a:rPr>
              <a:t>Optimization &amp; Conclusion- </a:t>
            </a:r>
            <a:r>
              <a:rPr lang="en-US" dirty="0">
                <a:latin typeface="+mn-lt"/>
              </a:rPr>
              <a:t>Identify the optimal dielectric material and thickness for improved DG-MOSFET performance</a:t>
            </a:r>
            <a:endParaRPr lang="en-US" altLang="en-US" dirty="0">
              <a:solidFill>
                <a:schemeClr val="tx1"/>
              </a:solidFill>
              <a:latin typeface="+mn-lt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>
              <a:spcBef>
                <a:spcPts val="0"/>
              </a:spcBef>
              <a:buSzPts val="1700"/>
              <a:buNone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2802589-2B9E-4A78-8DE9-EE5D8B4C2043}" type="datetime3">
              <a:rPr lang="en-US" smtClean="0"/>
              <a:t>28 May 2026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67C7FF2-20EB-BB7D-7B13-9B21488F1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572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D3D91-2831-EE19-EAA2-D8E68F957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4292" y="5307826"/>
            <a:ext cx="5718879" cy="38178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Fig: Schematic of a Double Gate MOSFET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5FE4C-150E-B665-9D39-9E0C4B86263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9C7B0AE-F067-4F91-9ECB-FAE13184135E}" type="datetime3">
              <a:rPr lang="en-US" smtClean="0"/>
              <a:t>28 May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44D40-27E7-0C75-53D3-11C8935E51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5A6B31-8DB5-212A-CC59-7CA38E59F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810" y="384856"/>
            <a:ext cx="7670379" cy="472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022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3F540-5916-9D3B-F2FA-0D1444E0F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8524" y="5514755"/>
            <a:ext cx="6156036" cy="434110"/>
          </a:xfrm>
        </p:spPr>
        <p:txBody>
          <a:bodyPr>
            <a:noAutofit/>
          </a:bodyPr>
          <a:lstStyle/>
          <a:p>
            <a:pPr marL="131445" indent="0">
              <a:buNone/>
            </a:pPr>
            <a:r>
              <a:rPr lang="en-US" dirty="0">
                <a:latin typeface="+mj-lt"/>
              </a:rPr>
              <a:t>Fig: Sample Design made with SDE Tool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6769C-0CE3-FCBD-4289-F55F87BBAC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9C7B0AE-F067-4F91-9ECB-FAE13184135E}" type="datetime3">
              <a:rPr lang="en-US" smtClean="0"/>
              <a:t>28 May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AA561-E8B9-54C6-EFE7-A7056E61D1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5D2067-8B78-D103-544F-A8017250E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581" y="1219846"/>
            <a:ext cx="9762837" cy="42949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C33F3B-FEEA-43A6-9514-58A96519216C}"/>
              </a:ext>
            </a:extLst>
          </p:cNvPr>
          <p:cNvSpPr txBox="1"/>
          <p:nvPr/>
        </p:nvSpPr>
        <p:spPr>
          <a:xfrm>
            <a:off x="1531296" y="464182"/>
            <a:ext cx="9301019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 err="1"/>
              <a:t>Sentarus</a:t>
            </a:r>
            <a:r>
              <a:rPr lang="en-US" sz="2900" b="1" dirty="0"/>
              <a:t> Structure Editor(SDE) Result</a:t>
            </a:r>
          </a:p>
        </p:txBody>
      </p:sp>
    </p:spTree>
    <p:extLst>
      <p:ext uri="{BB962C8B-B14F-4D97-AF65-F5344CB8AC3E}">
        <p14:creationId xmlns:p14="http://schemas.microsoft.com/office/powerpoint/2010/main" val="279054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6E71E-857F-B398-68D4-FB730C2E9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4041" y="5619560"/>
            <a:ext cx="6768777" cy="517236"/>
          </a:xfrm>
        </p:spPr>
        <p:txBody>
          <a:bodyPr>
            <a:noAutofit/>
          </a:bodyPr>
          <a:lstStyle/>
          <a:p>
            <a:pPr marL="131445" indent="0">
              <a:buNone/>
            </a:pPr>
            <a:r>
              <a:rPr lang="en-US" dirty="0">
                <a:latin typeface="+mj-lt"/>
              </a:rPr>
              <a:t>Fig: Model Structure viewed using </a:t>
            </a:r>
            <a:r>
              <a:rPr lang="en-US" dirty="0" err="1">
                <a:latin typeface="+mj-lt"/>
              </a:rPr>
              <a:t>Sinspect</a:t>
            </a:r>
            <a:r>
              <a:rPr lang="en-US" dirty="0">
                <a:latin typeface="+mj-lt"/>
              </a:rPr>
              <a:t> tool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54D98-8869-BC8E-8B9F-CFE3412101F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9C7B0AE-F067-4F91-9ECB-FAE13184135E}" type="datetime3">
              <a:rPr lang="en-US" smtClean="0"/>
              <a:t>28 May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71DA9-E6A8-B8C3-7334-0208B22F10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E8DCC1-3D16-9B54-5729-6C18D6CC9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089" y="1053257"/>
            <a:ext cx="8081817" cy="45663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E170C6-A7FE-3F8D-71BB-02E7709D0A99}"/>
              </a:ext>
            </a:extLst>
          </p:cNvPr>
          <p:cNvSpPr txBox="1"/>
          <p:nvPr/>
        </p:nvSpPr>
        <p:spPr>
          <a:xfrm>
            <a:off x="2652303" y="188036"/>
            <a:ext cx="6199133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900" b="1" dirty="0" err="1"/>
              <a:t>Sentarus</a:t>
            </a:r>
            <a:r>
              <a:rPr lang="en-US" sz="2900" b="1" dirty="0"/>
              <a:t> Device(SDEVICE) Result</a:t>
            </a:r>
          </a:p>
        </p:txBody>
      </p:sp>
    </p:spTree>
    <p:extLst>
      <p:ext uri="{BB962C8B-B14F-4D97-AF65-F5344CB8AC3E}">
        <p14:creationId xmlns:p14="http://schemas.microsoft.com/office/powerpoint/2010/main" val="3164099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1B8C-12DB-56CC-57E2-CA8DA2C23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2808" y="5872908"/>
            <a:ext cx="10058400" cy="22501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+mj-lt"/>
              </a:rPr>
              <a:t>Fig: Transfer Characteristics obtained for different gate dielectric thickness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6CEB2-B644-80A3-E913-DCEF69D77D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9C7B0AE-F067-4F91-9ECB-FAE13184135E}" type="datetime3">
              <a:rPr lang="en-US" smtClean="0"/>
              <a:t>28 May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582EE-7EB0-7787-EF51-69C93B0EAA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720D4-BE77-AA8E-991E-C3519896A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491" y="985092"/>
            <a:ext cx="10317018" cy="45671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D4DEDD-7990-B13B-97B4-CBE10F89EB94}"/>
              </a:ext>
            </a:extLst>
          </p:cNvPr>
          <p:cNvSpPr txBox="1"/>
          <p:nvPr/>
        </p:nvSpPr>
        <p:spPr>
          <a:xfrm>
            <a:off x="3773088" y="162154"/>
            <a:ext cx="4645824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900" b="1" dirty="0" err="1"/>
              <a:t>Sentarus</a:t>
            </a:r>
            <a:r>
              <a:rPr lang="en-US" sz="2900" b="1" dirty="0"/>
              <a:t> Visual Results </a:t>
            </a:r>
          </a:p>
        </p:txBody>
      </p:sp>
    </p:spTree>
    <p:extLst>
      <p:ext uri="{BB962C8B-B14F-4D97-AF65-F5344CB8AC3E}">
        <p14:creationId xmlns:p14="http://schemas.microsoft.com/office/powerpoint/2010/main" val="215668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2BE41-399A-43A2-6D44-48AB316FD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24" y="596061"/>
            <a:ext cx="8582152" cy="535710"/>
          </a:xfrm>
        </p:spPr>
        <p:txBody>
          <a:bodyPr>
            <a:normAutofit/>
          </a:bodyPr>
          <a:lstStyle/>
          <a:p>
            <a:pPr algn="ctr"/>
            <a:r>
              <a:rPr lang="en-US" sz="2900" b="1" dirty="0">
                <a:latin typeface="+mj-lt"/>
              </a:rPr>
              <a:t>Effect of Gate Oxide Thickness(Tox)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8AA46-7B78-BF7E-CA82-9CAB9FBEF2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9C7B0AE-F067-4F91-9ECB-FAE13184135E}" type="datetime3">
              <a:rPr lang="en-US" smtClean="0"/>
              <a:t>28 May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A5D33-BFA1-4142-BC80-22989C5B58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3F36CC-CBBC-FAB6-B1DB-A5FF25D27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327849"/>
            <a:ext cx="10241280" cy="466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966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032C-BA52-663E-31EA-60AB4392D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768" y="5600181"/>
            <a:ext cx="10058400" cy="198859"/>
          </a:xfrm>
        </p:spPr>
        <p:txBody>
          <a:bodyPr>
            <a:noAutofit/>
          </a:bodyPr>
          <a:lstStyle/>
          <a:p>
            <a:r>
              <a:rPr lang="en-US" sz="2000" dirty="0">
                <a:latin typeface="+mj-lt"/>
              </a:rPr>
              <a:t>Fig: Transfer Characteristics obtained for different gate dielectric materials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8940D-55A2-271B-AF88-7C972C7C237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9C7B0AE-F067-4F91-9ECB-FAE13184135E}" type="datetime3">
              <a:rPr lang="en-US" smtClean="0"/>
              <a:t>28 May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C0D57-4767-703B-15A4-9F3EC319EF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B73255-300C-02AD-B705-4D2A2449E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63" y="673704"/>
            <a:ext cx="10712473" cy="463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314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40FA0-24BD-43AB-E168-6F98EE3D7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386441"/>
            <a:ext cx="10058400" cy="642204"/>
          </a:xfrm>
        </p:spPr>
        <p:txBody>
          <a:bodyPr>
            <a:normAutofit/>
          </a:bodyPr>
          <a:lstStyle/>
          <a:p>
            <a:pPr algn="ctr"/>
            <a:r>
              <a:rPr lang="en-US" sz="2900" b="1" dirty="0">
                <a:latin typeface="+mj-lt"/>
              </a:rPr>
              <a:t>Effect of Dielectric Material (k-value)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A0F1C-A4F4-9B5E-CBDA-76D698C7EF2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9C7B0AE-F067-4F91-9ECB-FAE13184135E}" type="datetime3">
              <a:rPr lang="en-US" smtClean="0"/>
              <a:t>28 May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D6D26-20CB-26A1-DFF0-233CABB166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F50BBB-E520-31D3-3AA8-CBBEE7EEB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63" y="1126836"/>
            <a:ext cx="10871073" cy="494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243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AD925-9191-3DD8-6E35-19F65606C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877" y="484632"/>
            <a:ext cx="11454245" cy="787030"/>
          </a:xfrm>
        </p:spPr>
        <p:txBody>
          <a:bodyPr>
            <a:noAutofit/>
          </a:bodyPr>
          <a:lstStyle/>
          <a:p>
            <a:pPr algn="ctr"/>
            <a:r>
              <a:rPr lang="en-US" sz="2900" b="1" dirty="0">
                <a:latin typeface="+mj-lt"/>
              </a:rPr>
              <a:t> Transfer Characteristics (I</a:t>
            </a:r>
            <a:r>
              <a:rPr lang="en-US" sz="2000" b="1" dirty="0">
                <a:latin typeface="+mj-lt"/>
              </a:rPr>
              <a:t>DS</a:t>
            </a:r>
            <a:r>
              <a:rPr lang="en-US" sz="2900" b="1" dirty="0">
                <a:latin typeface="+mj-lt"/>
              </a:rPr>
              <a:t>–V</a:t>
            </a:r>
            <a:r>
              <a:rPr lang="en-US" sz="2000" b="1" dirty="0">
                <a:latin typeface="+mj-lt"/>
              </a:rPr>
              <a:t>GS</a:t>
            </a:r>
            <a:r>
              <a:rPr lang="en-US" sz="2900" b="1" dirty="0">
                <a:latin typeface="+mj-lt"/>
              </a:rPr>
              <a:t>): Si vs </a:t>
            </a:r>
            <a:r>
              <a:rPr lang="en-US" sz="2900" b="1" dirty="0" err="1">
                <a:latin typeface="+mj-lt"/>
              </a:rPr>
              <a:t>InGaAs</a:t>
            </a:r>
            <a:r>
              <a:rPr lang="en-US" sz="2900" b="1" dirty="0">
                <a:latin typeface="+mj-lt"/>
              </a:rPr>
              <a:t> DG MOSFET</a:t>
            </a:r>
            <a:br>
              <a:rPr lang="en-US" sz="2900" b="1" dirty="0">
                <a:latin typeface="+mj-lt"/>
              </a:rPr>
            </a:br>
            <a:endParaRPr lang="en-US" sz="2900" dirty="0"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148CF-51C8-F599-CD24-F173820E8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9576" y="1077698"/>
            <a:ext cx="10058400" cy="4050792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+mn-lt"/>
              </a:rPr>
              <a:t>Transfer characteristics show variation of drain current (I</a:t>
            </a:r>
            <a:r>
              <a:rPr lang="en-US" sz="1600" dirty="0">
                <a:latin typeface="+mn-lt"/>
              </a:rPr>
              <a:t>DS</a:t>
            </a:r>
            <a:r>
              <a:rPr lang="en-US" dirty="0">
                <a:latin typeface="+mn-lt"/>
              </a:rPr>
              <a:t>) with gate voltage (V</a:t>
            </a:r>
            <a:r>
              <a:rPr lang="en-US" sz="1600" dirty="0">
                <a:latin typeface="+mn-lt"/>
              </a:rPr>
              <a:t>GS</a:t>
            </a:r>
            <a:r>
              <a:rPr lang="en-US" dirty="0">
                <a:latin typeface="+mn-lt"/>
              </a:rPr>
              <a:t>) and indicate switching behavior of the device. </a:t>
            </a:r>
          </a:p>
          <a:p>
            <a:pPr algn="just"/>
            <a:r>
              <a:rPr lang="en-US" dirty="0" err="1">
                <a:latin typeface="+mn-lt"/>
              </a:rPr>
              <a:t>InGaAs</a:t>
            </a:r>
            <a:r>
              <a:rPr lang="en-US" dirty="0">
                <a:latin typeface="+mn-lt"/>
              </a:rPr>
              <a:t> DG MOSFET exhibits significantly higher ON-current (~10⁻⁴ A) compared to Silicon (~10⁻⁵ A) due to higher electron mobility. </a:t>
            </a:r>
          </a:p>
          <a:p>
            <a:pPr algn="just"/>
            <a:r>
              <a:rPr lang="en-US" dirty="0">
                <a:latin typeface="+mn-lt"/>
              </a:rPr>
              <a:t>Both devices maintain very low OFF-current (~10⁻¹⁴ A), indicating good leakage control. </a:t>
            </a:r>
          </a:p>
          <a:p>
            <a:pPr algn="just"/>
            <a:r>
              <a:rPr lang="en-US" dirty="0" err="1">
                <a:latin typeface="+mn-lt"/>
              </a:rPr>
              <a:t>InGaAs</a:t>
            </a:r>
            <a:r>
              <a:rPr lang="en-US" dirty="0">
                <a:latin typeface="+mn-lt"/>
              </a:rPr>
              <a:t> device shows a steeper I</a:t>
            </a:r>
            <a:r>
              <a:rPr lang="en-US" sz="1600" dirty="0">
                <a:latin typeface="+mn-lt"/>
              </a:rPr>
              <a:t>DS</a:t>
            </a:r>
            <a:r>
              <a:rPr lang="en-US" dirty="0">
                <a:latin typeface="+mn-lt"/>
              </a:rPr>
              <a:t>–V</a:t>
            </a:r>
            <a:r>
              <a:rPr lang="en-US" sz="1600" dirty="0">
                <a:latin typeface="+mn-lt"/>
              </a:rPr>
              <a:t>GS</a:t>
            </a:r>
            <a:r>
              <a:rPr lang="en-US" dirty="0">
                <a:latin typeface="+mn-lt"/>
              </a:rPr>
              <a:t> curve, resulting in: </a:t>
            </a:r>
          </a:p>
          <a:p>
            <a:pPr lvl="1" algn="just"/>
            <a:r>
              <a:rPr lang="en-US" sz="2000" dirty="0">
                <a:latin typeface="+mn-lt"/>
              </a:rPr>
              <a:t>Lower subthreshold swing (SS) </a:t>
            </a:r>
          </a:p>
          <a:p>
            <a:pPr lvl="1" algn="just"/>
            <a:r>
              <a:rPr lang="en-US" sz="2000" dirty="0">
                <a:latin typeface="+mn-lt"/>
              </a:rPr>
              <a:t>Faster switching behavior </a:t>
            </a:r>
          </a:p>
          <a:p>
            <a:pPr algn="just"/>
            <a:r>
              <a:rPr lang="en-US" dirty="0">
                <a:latin typeface="+mn-lt"/>
              </a:rPr>
              <a:t>Threshold voltage (V</a:t>
            </a:r>
            <a:r>
              <a:rPr lang="en-US" sz="1600" dirty="0">
                <a:latin typeface="+mn-lt"/>
              </a:rPr>
              <a:t>T</a:t>
            </a:r>
            <a:r>
              <a:rPr lang="en-US" dirty="0">
                <a:latin typeface="+mn-lt"/>
              </a:rPr>
              <a:t>) is lower in </a:t>
            </a:r>
            <a:r>
              <a:rPr lang="en-US" dirty="0" err="1">
                <a:latin typeface="+mn-lt"/>
              </a:rPr>
              <a:t>InGaAs</a:t>
            </a:r>
            <a:r>
              <a:rPr lang="en-US" dirty="0">
                <a:latin typeface="+mn-lt"/>
              </a:rPr>
              <a:t> (~0.30 V) than Silicon (~0.42 V), enabling operation at lower voltages. </a:t>
            </a:r>
          </a:p>
          <a:p>
            <a:pPr algn="just"/>
            <a:r>
              <a:rPr lang="en-US" dirty="0">
                <a:latin typeface="+mn-lt"/>
              </a:rPr>
              <a:t>Conclusion: </a:t>
            </a:r>
            <a:r>
              <a:rPr lang="en-US" dirty="0" err="1">
                <a:latin typeface="+mn-lt"/>
              </a:rPr>
              <a:t>InGaAs</a:t>
            </a:r>
            <a:r>
              <a:rPr lang="en-US" dirty="0">
                <a:latin typeface="+mn-lt"/>
              </a:rPr>
              <a:t> DG MOSFET provides better current conduction, sharper switching, and improved efficiency compared to Silicon, making it suitable for high-speed and low-power applications. </a:t>
            </a:r>
          </a:p>
          <a:p>
            <a:pPr algn="just"/>
            <a:endParaRPr lang="en-US" dirty="0"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E09A1-A089-E884-73E6-E491A554E36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9C7B0AE-F067-4F91-9ECB-FAE13184135E}" type="datetime3">
              <a:rPr lang="en-US" smtClean="0"/>
              <a:t>28 May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3F423-2143-1DCC-C478-03818C11C4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541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F7265-054E-A6AE-89A1-D9383D87B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56922"/>
            <a:ext cx="10058400" cy="697623"/>
          </a:xfrm>
        </p:spPr>
        <p:txBody>
          <a:bodyPr>
            <a:normAutofit/>
          </a:bodyPr>
          <a:lstStyle/>
          <a:p>
            <a:pPr algn="ctr"/>
            <a:r>
              <a:rPr lang="en-US" sz="2900" b="1" dirty="0">
                <a:latin typeface="+mj-lt"/>
              </a:rPr>
              <a:t>Comparative Analysis: Si vs </a:t>
            </a:r>
            <a:r>
              <a:rPr lang="en-US" sz="2900" b="1" dirty="0" err="1">
                <a:latin typeface="+mj-lt"/>
              </a:rPr>
              <a:t>InGaAs</a:t>
            </a:r>
            <a:r>
              <a:rPr lang="en-US" sz="2900" b="1" dirty="0">
                <a:latin typeface="+mj-lt"/>
              </a:rPr>
              <a:t> DG MOSFET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57DAB-C9B4-1748-9EE2-F8295D9867B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9C7B0AE-F067-4F91-9ECB-FAE13184135E}" type="datetime3">
              <a:rPr lang="en-US" smtClean="0"/>
              <a:t>28 May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9C85C-7CE4-6514-E5F1-F37FA9CE79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37DCE68-395D-1AA6-EE64-3A7F67C46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474" y="1274024"/>
            <a:ext cx="10094774" cy="459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448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1135" y="220091"/>
            <a:ext cx="7290033" cy="973966"/>
          </a:xfrm>
        </p:spPr>
        <p:txBody>
          <a:bodyPr>
            <a:normAutofit/>
          </a:bodyPr>
          <a:lstStyle/>
          <a:p>
            <a:r>
              <a:rPr lang="en-US" sz="2900" b="1" dirty="0">
                <a:latin typeface="+mj-lt"/>
              </a:rPr>
              <a:t>Conclusions </a:t>
            </a:r>
            <a:endParaRPr lang="en-IN" sz="2900" b="1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61AEB2B-1060-4F53-B481-06AF10610188}" type="datetime3">
              <a:rPr lang="en-US" smtClean="0"/>
              <a:t>28 May 2026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152961-C89B-CAAB-CE65-3B7712105F74}"/>
              </a:ext>
            </a:extLst>
          </p:cNvPr>
          <p:cNvSpPr txBox="1"/>
          <p:nvPr/>
        </p:nvSpPr>
        <p:spPr>
          <a:xfrm>
            <a:off x="1136012" y="1253839"/>
            <a:ext cx="10175116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InGaAs</a:t>
            </a:r>
            <a:r>
              <a:rPr lang="en-US" sz="2000" dirty="0">
                <a:solidFill>
                  <a:schemeClr val="tx1"/>
                </a:solidFill>
              </a:rPr>
              <a:t> DG MOSFET achieves ~15x  higher ON-current (3.1×10⁻⁴ A vs 2×10⁻⁵ A) than Si DG MOSFET, while maintaining equally low OFF-current (~10⁻¹⁴ A).</a:t>
            </a:r>
          </a:p>
          <a:p>
            <a:pPr marL="342900" indent="-342900" algn="just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InGaAs</a:t>
            </a:r>
            <a:r>
              <a:rPr lang="en-US" sz="2000" dirty="0">
                <a:solidFill>
                  <a:schemeClr val="tx1"/>
                </a:solidFill>
              </a:rPr>
              <a:t> delivers lower threshold voltage (0.30 V vs 0.42 V) and improved subthreshold swing (65–75 vs 90–100 mV/dec) — enabling low-power operation.</a:t>
            </a:r>
          </a:p>
          <a:p>
            <a:pPr marL="342900" indent="-342900" algn="just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Reducing gate oxide thickness (Tox) improves gate capacitance and electrostatic control: V</a:t>
            </a:r>
            <a:r>
              <a:rPr lang="en-US" sz="1600" dirty="0">
                <a:solidFill>
                  <a:schemeClr val="tx1"/>
                </a:solidFill>
              </a:rPr>
              <a:t>T </a:t>
            </a:r>
            <a:r>
              <a:rPr lang="en-US" sz="2000" dirty="0">
                <a:solidFill>
                  <a:schemeClr val="tx1"/>
                </a:solidFill>
              </a:rPr>
              <a:t>drops from 0.47 V → 0.32 V and SS from 102 → 70 mV/dec as Tox decreases from 4 nm to 1 nm.</a:t>
            </a:r>
          </a:p>
          <a:p>
            <a:pPr marL="342900" indent="-342900" algn="just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High-k dielectric </a:t>
            </a:r>
            <a:r>
              <a:rPr lang="en-US" sz="2000" dirty="0" err="1">
                <a:solidFill>
                  <a:schemeClr val="tx1"/>
                </a:solidFill>
              </a:rPr>
              <a:t>HfO</a:t>
            </a:r>
            <a:r>
              <a:rPr lang="en-US" sz="2000" dirty="0">
                <a:solidFill>
                  <a:schemeClr val="tx1"/>
                </a:solidFill>
              </a:rPr>
              <a:t>₂ (k≈25) outperforms </a:t>
            </a:r>
            <a:r>
              <a:rPr lang="en-US" sz="2000" dirty="0" err="1">
                <a:solidFill>
                  <a:schemeClr val="tx1"/>
                </a:solidFill>
              </a:rPr>
              <a:t>SiO</a:t>
            </a:r>
            <a:r>
              <a:rPr lang="en-US" sz="2000" dirty="0">
                <a:solidFill>
                  <a:schemeClr val="tx1"/>
                </a:solidFill>
              </a:rPr>
              <a:t>₂ (k≈3.9) by delivering the lowest V</a:t>
            </a:r>
            <a:r>
              <a:rPr lang="en-US" dirty="0">
                <a:solidFill>
                  <a:schemeClr val="tx1"/>
                </a:solidFill>
              </a:rPr>
              <a:t>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(0.30 V) and SS (~68 mV/dec) among all dielectric candidates tested.</a:t>
            </a:r>
          </a:p>
          <a:p>
            <a:pPr marL="342900" indent="-342900" algn="just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The combined approach of DG structure + </a:t>
            </a:r>
            <a:r>
              <a:rPr lang="en-US" sz="2000" dirty="0" err="1">
                <a:solidFill>
                  <a:schemeClr val="tx1"/>
                </a:solidFill>
              </a:rPr>
              <a:t>InGaAs</a:t>
            </a:r>
            <a:r>
              <a:rPr lang="en-US" sz="2000" dirty="0">
                <a:solidFill>
                  <a:schemeClr val="tx1"/>
                </a:solidFill>
              </a:rPr>
              <a:t> channel + </a:t>
            </a:r>
            <a:r>
              <a:rPr lang="en-US" sz="2000" dirty="0" err="1">
                <a:solidFill>
                  <a:schemeClr val="tx1"/>
                </a:solidFill>
              </a:rPr>
              <a:t>HfO</a:t>
            </a:r>
            <a:r>
              <a:rPr lang="en-US" sz="2000" dirty="0">
                <a:solidFill>
                  <a:schemeClr val="tx1"/>
                </a:solidFill>
              </a:rPr>
              <a:t>₂ gate dielectric + thin Tox represents an optimal design strategy for next-generation nanoscale MOSFETs.</a:t>
            </a:r>
          </a:p>
          <a:p>
            <a:pPr marL="342900" indent="-342900" algn="just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InGaAs</a:t>
            </a:r>
            <a:r>
              <a:rPr lang="en-US" sz="2000" dirty="0">
                <a:solidFill>
                  <a:schemeClr val="tx1"/>
                </a:solidFill>
              </a:rPr>
              <a:t>-based DG MOSFETs are strong candidates for high-speed, low-power applications in sub-40 nm technology nodes.</a:t>
            </a:r>
          </a:p>
        </p:txBody>
      </p:sp>
    </p:spTree>
    <p:extLst>
      <p:ext uri="{BB962C8B-B14F-4D97-AF65-F5344CB8AC3E}">
        <p14:creationId xmlns:p14="http://schemas.microsoft.com/office/powerpoint/2010/main" val="3385359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477047" y="229869"/>
            <a:ext cx="2320124" cy="911861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+mj-lt"/>
              </a:rPr>
              <a:t>References</a:t>
            </a:r>
            <a:endParaRPr lang="en-IN" sz="3200" b="1" dirty="0"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131445" lvl="0" indent="0">
              <a:buNone/>
            </a:pPr>
            <a:endParaRPr lang="en-IN" dirty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8F26489-79CE-4233-9CB5-1C6FE8420484}" type="datetime3">
              <a:rPr lang="en-US" smtClean="0"/>
              <a:t>28 May 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 dirty="0"/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737517" y="1646280"/>
            <a:ext cx="11125200" cy="521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5755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32575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32575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2575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2575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25754" algn="l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+mn-lt"/>
              </a:rPr>
              <a:t>1.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Boucart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, K., &amp; Ionescu, A. M. (2007). IEEE Trans. Electron Dev., 54(7), 1725–1733.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+mn-lt"/>
              </a:rPr>
              <a:t>2. Ramesh, P., &amp; Choudhuri, B. (2023). Microelectronics Journal, 142, 105990.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+mn-lt"/>
              </a:rPr>
              <a:t>3. del Alamo, J. A. et al. (2011).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InGaAs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MOSFETs for CMOS at the end of the roadmap. IEDM.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+mn-lt"/>
              </a:rPr>
              <a:t>4. Rajan et al. (2022). Performance Analysis of III-V Double Gate Hetero Material NC-TFET. Silicon, 14(14), 8529–8541.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+mn-lt"/>
              </a:rPr>
              <a:t>5. Bhardwaj et al. (2025). Oxide material variation on vertical nanowire TFET. Semiconductors, 59(5).</a:t>
            </a:r>
          </a:p>
          <a:p>
            <a:pPr marL="0" indent="0">
              <a:spcAft>
                <a:spcPts val="200"/>
              </a:spcAft>
              <a:buNone/>
            </a:pP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39708889"/>
      </p:ext>
    </p:extLst>
  </p:cSld>
  <p:clrMapOvr>
    <a:masterClrMapping/>
  </p:clrMapOvr>
</p:sld>
</file>

<file path=ppt/theme/theme1.xml><?xml version="1.0" encoding="utf-8"?>
<a:theme xmlns:a="http://schemas.openxmlformats.org/drawingml/2006/main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1067</Words>
  <Application>Microsoft Office PowerPoint</Application>
  <PresentationFormat>Widescreen</PresentationFormat>
  <Paragraphs>119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Noto Sans Symbols</vt:lpstr>
      <vt:lpstr>Rockwell</vt:lpstr>
      <vt:lpstr>Verdana</vt:lpstr>
      <vt:lpstr>Wingdings</vt:lpstr>
      <vt:lpstr>Wood Type</vt:lpstr>
      <vt:lpstr>Performance Analysis of InGaAs based Double Gate MOSFETs: Impact of Gate Dielectric Material and Thickness </vt:lpstr>
      <vt:lpstr>Abstract</vt:lpstr>
      <vt:lpstr>Introduction</vt:lpstr>
      <vt:lpstr>Objectives</vt:lpstr>
      <vt:lpstr>Software components</vt:lpstr>
      <vt:lpstr>PowerPoint Presentation</vt:lpstr>
      <vt:lpstr>Methodology /Working principle</vt:lpstr>
      <vt:lpstr>Fig: Schematic of a Double Gate MOSFET</vt:lpstr>
      <vt:lpstr>PowerPoint Presentation</vt:lpstr>
      <vt:lpstr>PowerPoint Presentation</vt:lpstr>
      <vt:lpstr>Fig: Transfer Characteristics obtained for different gate dielectric thickness</vt:lpstr>
      <vt:lpstr>Effect of Gate Oxide Thickness(Tox)</vt:lpstr>
      <vt:lpstr>Fig: Transfer Characteristics obtained for different gate dielectric materials</vt:lpstr>
      <vt:lpstr>Effect of Dielectric Material (k-value)</vt:lpstr>
      <vt:lpstr> Transfer Characteristics (IDS–VGS): Si vs InGaAs DG MOSFET </vt:lpstr>
      <vt:lpstr>Comparative Analysis: Si vs InGaAs DG MOSFET</vt:lpstr>
      <vt:lpstr>Conclusions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DEVELOPMENT OF AN ARRAY ANTENNA FOR ELECTRONIC WARFARE APPLICATIONS</dc:title>
  <dc:creator>Praveen Chakravarthy</dc:creator>
  <cp:lastModifiedBy>Jagirthi Ashwitha</cp:lastModifiedBy>
  <cp:revision>54</cp:revision>
  <dcterms:created xsi:type="dcterms:W3CDTF">2019-06-21T04:09:29Z</dcterms:created>
  <dcterms:modified xsi:type="dcterms:W3CDTF">2026-05-28T12:18:59Z</dcterms:modified>
</cp:coreProperties>
</file>